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2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8A8A"/>
                </a:solidFill>
                <a:latin typeface="微软雅黑"/>
                <a:ea typeface="微软雅黑"/>
              </a:rPr>
              <a:t>天翼云 · 智慧办公体验升级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会议通知改造 &amp; OA门户数字人改造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D0D8"/>
                </a:solidFill>
                <a:latin typeface="微软雅黑"/>
                <a:ea typeface="微软雅黑"/>
              </a:rPr>
              <a:t>设计理念与用户影响说明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6A3"/>
                </a:solidFill>
                <a:latin typeface="微软雅黑"/>
                <a:ea typeface="微软雅黑"/>
              </a:rPr>
              <a:t>聚焦：流程再造 · 触达闭环 · AI 融入日常办公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6A3"/>
                </a:solidFill>
                <a:latin typeface="微软雅黑"/>
                <a:ea typeface="微软雅黑"/>
              </a:rPr>
              <a:t>数字化运营部  |  产品体验说明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1371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37160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371600"/>
            <a:ext cx="91440" cy="9601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5544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0012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5361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微软雅黑"/>
                <a:ea typeface="微软雅黑"/>
              </a:rPr>
              <a:t>改造背景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87451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当前痛点与改造目标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51460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514600"/>
            <a:ext cx="91440" cy="9601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6974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77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6791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微软雅黑"/>
                <a:ea typeface="微软雅黑"/>
              </a:rPr>
              <a:t>会议通知改造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017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设计理念 · 核心能力 · 用户影响 · 系统界面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5760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657600"/>
            <a:ext cx="91440" cy="9601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8404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0012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822191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微软雅黑"/>
                <a:ea typeface="微软雅黑"/>
              </a:rPr>
              <a:t>OA门户数字人改造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160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设计理念 · 核心能力 · 用户影响 · 系统界面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80060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800600"/>
            <a:ext cx="91440" cy="9601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9834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77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9651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微软雅黑"/>
                <a:ea typeface="微软雅黑"/>
              </a:rPr>
              <a:t>综合价值与展望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303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双线升级对办公体验的整体提升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微软雅黑"/>
                <a:ea typeface="微软雅黑"/>
              </a:rPr>
              <a:t>改造背景：两大核心痛点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从「通知难触达」到「智能难用上」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1371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5486400" cy="4572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会议通知：触达弱、流程重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微软雅黑"/>
                <a:ea typeface="微软雅黑"/>
              </a:rPr>
              <a:t>现状问题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• 依赖邮件通知，易遗漏、感知差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• 部门会也走公司级审批，链路过长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• 参会人表述模糊，无法精准到人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• 线上线下会议割裂，缺少闭环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00" b="1">
                <a:solidFill>
                  <a:srgbClr val="E60012"/>
                </a:solidFill>
                <a:latin typeface="微软雅黑"/>
                <a:ea typeface="微软雅黑"/>
              </a:rPr>
              <a:t>改造目标：待办触达 + 轻量审批 + A One 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数字人：入口远、场景散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1A2E"/>
                </a:solidFill>
                <a:latin typeface="微软雅黑"/>
                <a:ea typeface="微软雅黑"/>
              </a:rPr>
              <a:t>现状问题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• AI 能力独立成页，与门户割裂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• 搜索与问答切换成本高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• 智能体多、找不到合适助手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• 检索结果与对话缺少联动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00" b="1">
                <a:solidFill>
                  <a:srgbClr val="1677FF"/>
                </a:solidFill>
                <a:latin typeface="微软雅黑"/>
                <a:ea typeface="微软雅黑"/>
              </a:rPr>
              <a:t>改造目标：页头内嵌 + 双模一体 + 第三屏证据链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63440"/>
            <a:ext cx="5486400" cy="16733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eeting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438" y="4663440"/>
            <a:ext cx="2677363" cy="16733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2920" y="6373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系统界面 · 会议通知拟稿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63440"/>
            <a:ext cx="5486400" cy="16733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oa-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2438" y="4663440"/>
            <a:ext cx="2677363" cy="167335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17920" y="6373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系统界面 · OA 门户首页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微软雅黑"/>
                <a:ea typeface="微软雅黑"/>
              </a:rPr>
              <a:t>会议通知改造 · 设计理念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用「轻流程 + 强触达 + 全闭环」重构部门会议通知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1371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91440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89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轻量审批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6420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部门级会议仅需发起人部门领导审批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91440" cy="7315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12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待办优先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871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以 OA 待办替代邮件主通道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91440" cy="731520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358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动态指派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101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主送部门后由领导勾选实名参会人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49039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49039"/>
            <a:ext cx="91440" cy="73152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587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一屏呈现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3308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核心字段一屏可见，非必填折叠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7200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72000"/>
            <a:ext cx="91440" cy="73152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会前会后闭环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560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同一文号贯穿通知→指派→纪要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9496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394960"/>
            <a:ext cx="91440" cy="73152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046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内外有别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790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对内待办；对外一键生成 PDF 通知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1280160"/>
            <a:ext cx="6126480" cy="4919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meeting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25370"/>
            <a:ext cx="6126480" cy="38290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77840" y="6236207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系统截图 · 部门会议通知拟稿（一屏核心字段）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微软雅黑"/>
                <a:ea typeface="微软雅黑"/>
              </a:rPr>
              <a:t>会议通知改造 · 流程再造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5 个办理环节，审批通过即触达，并联动 A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1371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1389888"/>
            <a:ext cx="457200" cy="4572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微软雅黑"/>
                <a:ea typeface="微软雅黑"/>
              </a:rPr>
              <a:t>起草通知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填写核心信息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737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001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28016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1389888"/>
            <a:ext cx="457200" cy="4572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微软雅黑"/>
                <a:ea typeface="微软雅黑"/>
              </a:rPr>
              <a:t>部门领导审批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240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通过即发待办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1737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001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128016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59" y="1389888"/>
            <a:ext cx="457200" cy="4572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微软雅黑"/>
                <a:ea typeface="微软雅黑"/>
              </a:rPr>
              <a:t>指派参会人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2240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勾选实名人员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1737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001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128016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38160" y="1389888"/>
            <a:ext cx="457200" cy="4572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微软雅黑"/>
                <a:ea typeface="微软雅黑"/>
              </a:rPr>
              <a:t>汇总闭环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240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可退回补充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737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0012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1280160"/>
            <a:ext cx="21031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24160" y="1389888"/>
            <a:ext cx="457200" cy="457200"/>
          </a:xfrm>
          <a:prstGeom prst="ellipse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19659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2E"/>
                </a:solidFill>
                <a:latin typeface="微软雅黑"/>
                <a:ea typeface="微软雅黑"/>
              </a:rPr>
              <a:t>上传纪要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2402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A One 同步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2926080"/>
            <a:ext cx="5486400" cy="3319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meeting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02" y="2926080"/>
            <a:ext cx="5310835" cy="33192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2920" y="6281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系统截图 · 会议列表 / 办理入口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2926080"/>
            <a:ext cx="5486400" cy="3319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eeting-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02" y="2926080"/>
            <a:ext cx="5310835" cy="33192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17920" y="6281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系统截图 · 会议门户与待办触达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微软雅黑"/>
                <a:ea typeface="微软雅黑"/>
              </a:rPr>
              <a:t>会议通知改造 · 对用户的影响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不同角色获得可感知的效率与确定性提升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1371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78308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783080" cy="5029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拟稿人 / 发起人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1600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2E"/>
                </a:solidFill>
                <a:latin typeface="微软雅黑"/>
                <a:ea typeface="微软雅黑"/>
              </a:rPr>
              <a:t>• 表单更短，一屏完成核心信息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微软雅黑"/>
                <a:ea typeface="微软雅黑"/>
              </a:rPr>
              <a:t>• 主送到部门即可，不用猜参会人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微软雅黑"/>
                <a:ea typeface="微软雅黑"/>
              </a:rPr>
              <a:t>• 部门领导通过即生效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微软雅黑"/>
                <a:ea typeface="微软雅黑"/>
              </a:rPr>
              <a:t>• 纪要回挂同一文号闭环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39" y="1280160"/>
            <a:ext cx="178308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39" y="1280160"/>
            <a:ext cx="1783080" cy="5029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1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部门领导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1965960"/>
            <a:ext cx="1600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2E"/>
                </a:solidFill>
                <a:latin typeface="微软雅黑"/>
                <a:ea typeface="微软雅黑"/>
              </a:rPr>
              <a:t>• 部门会无需公司级签发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微软雅黑"/>
                <a:ea typeface="微软雅黑"/>
              </a:rPr>
              <a:t>• 通讯录勾选实名参会人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微软雅黑"/>
                <a:ea typeface="微软雅黑"/>
              </a:rPr>
              <a:t>• 指派动作在待办内完成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微软雅黑"/>
                <a:ea typeface="微软雅黑"/>
              </a:rPr>
              <a:t>• 名单不全可退回补充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1280160"/>
            <a:ext cx="178308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280160"/>
            <a:ext cx="1783080" cy="502920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参会人员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1965960"/>
            <a:ext cx="1600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A1A2E"/>
                </a:solidFill>
                <a:latin typeface="微软雅黑"/>
                <a:ea typeface="微软雅黑"/>
              </a:rPr>
              <a:t>• OA 待办强提醒，不再靠邮件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微软雅黑"/>
                <a:ea typeface="微软雅黑"/>
              </a:rPr>
              <a:t>• 时间、议题、会议号齐备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微软雅黑"/>
                <a:ea typeface="微软雅黑"/>
              </a:rPr>
              <a:t>• A One 链接自动同步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微软雅黑"/>
                <a:ea typeface="微软雅黑"/>
              </a:rPr>
              <a:t>• 现场 / 线上身份清晰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280160"/>
            <a:ext cx="5486400" cy="2313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eeting-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374" y="1280160"/>
            <a:ext cx="3701491" cy="23134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17920" y="36301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系统截图 · 会议室预定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23360"/>
            <a:ext cx="5486400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eeting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102" y="4023360"/>
            <a:ext cx="3482035" cy="2176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17920" y="623620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系统截图 · 会议详情（会前会后信息）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微软雅黑"/>
                <a:ea typeface="微软雅黑"/>
              </a:rPr>
              <a:t>OA门户数字人改造 · 设计理念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让 AI 成为门户的「第一入口」，而不是另开一扇门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1371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91440" cy="7315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89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入口即服务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6420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页头「搜索 / AI 专家」一键切换，不必离开首页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91440" cy="7315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12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双模一体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871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公文搜索找得到，数字人办得成，同一入口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91440" cy="7315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358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专家 + 技能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101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@专家、/技能灵活组合，适配复杂任务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49039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49039"/>
            <a:ext cx="91440" cy="7315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587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对话 + 第三屏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3308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右侧对话；左侧证据链与工作台结果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7200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72000"/>
            <a:ext cx="91440" cy="7315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智能体可切换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560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拟稿 / 日程 / 会议室 / 访客 / 风控等助手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9496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394960"/>
            <a:ext cx="91440" cy="7315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046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不打断工作流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790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吸顶栏保留模式，全屏 / 侧栏可收展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1280160"/>
            <a:ext cx="6126480" cy="4919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oa-ai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933069"/>
            <a:ext cx="6126480" cy="36136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77840" y="6236207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系统截图 · 门户页头唤起数字人对话面板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微软雅黑"/>
                <a:ea typeface="微软雅黑"/>
              </a:rPr>
              <a:t>OA门户数字人改造 · 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从「能聊天」升级为「能办事的办公助手体系」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1371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2331720" cy="9144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门户内嵌对话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页头唤起，查待办 / 公文 / 制度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28016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1280160"/>
            <a:ext cx="2331720" cy="9144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5544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垂直智能体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0116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拟稿 / 日程 / 会议室 / 访客 / 风控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7180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71800"/>
            <a:ext cx="2331720" cy="91440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检索证据链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回答附引用，第三屏展开原文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297180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71800" y="2971800"/>
            <a:ext cx="2331720" cy="9144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246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专家与技能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033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@切换专家，/添加技能组合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634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663440"/>
            <a:ext cx="2331720" cy="91440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59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工作台联动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94959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复杂任务结构化呈现标签与数据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4663440"/>
            <a:ext cx="233172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71800" y="4663440"/>
            <a:ext cx="2331720" cy="914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4937759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会话连续性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394959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历史回看、置顶、新建 / 清空 / 全屏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1280160"/>
            <a:ext cx="6126480" cy="4919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third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408" y="1280160"/>
            <a:ext cx="5703343" cy="4919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77840" y="6236207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系统截图 · 对话 + 第三屏工作台（证据链 / 结构化结果）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微软雅黑"/>
                <a:ea typeface="微软雅黑"/>
              </a:rPr>
              <a:t>OA门户数字人改造 · 对用户的影响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把「找系统、记路径、翻手册」变成「直接问、马上办」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1371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91440" cy="7315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89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降低门槛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6420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自然语言即可完成查询与引导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03120"/>
            <a:ext cx="91440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128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缩短路径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871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查公文、问制度、找待办收敛到页头一次对话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2608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91440" cy="7315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358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提升可信度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101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检索引用 + 第三屏证据，可核验来源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49039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49039"/>
            <a:ext cx="91440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587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场景化效率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33087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垂直助手对焦当前任务，少说废话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57200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72000"/>
            <a:ext cx="91440" cy="73152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主业不中断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560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门户仍是主舞台，数字人是增强层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94960"/>
            <a:ext cx="4846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394960"/>
            <a:ext cx="91440" cy="73152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046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微软雅黑"/>
                <a:ea typeface="微软雅黑"/>
              </a:rPr>
              <a:t>能力可扩展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790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智能体与技能可持续接入新场景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1280160"/>
            <a:ext cx="6126480" cy="49194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earch-thi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958" y="1280160"/>
            <a:ext cx="4514243" cy="491947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77840" y="6236207"/>
            <a:ext cx="6126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系统截图 · 检索结果第三屏（引用可核验）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微软雅黑"/>
                <a:ea typeface="微软雅黑"/>
              </a:rPr>
              <a:t>改造前后对比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用更少步骤，换更高确定性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1371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改造前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486400" cy="411480"/>
          </a:xfrm>
          <a:prstGeom prst="roundRect">
            <a:avLst>
              <a:gd name="adj" fmla="val 8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98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改造后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会议通知靠邮件，易漏看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微软雅黑"/>
                <a:ea typeface="微软雅黑"/>
              </a:rPr>
              <a:t>OA 待办精准推送，强提醒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76272"/>
            <a:ext cx="548640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76272"/>
            <a:ext cx="548640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677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部门会也走公司级长流程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677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微软雅黑"/>
                <a:ea typeface="微软雅黑"/>
              </a:rPr>
              <a:t>部门领导审批即生效分发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15184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615184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7066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参会人写「各部门相关同志」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066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微软雅黑"/>
                <a:ea typeface="微软雅黑"/>
              </a:rPr>
              <a:t>通讯录勾选，实名到人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54096"/>
            <a:ext cx="548640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054096"/>
            <a:ext cx="548640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455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线上会议号手工转发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14553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微软雅黑"/>
                <a:ea typeface="微软雅黑"/>
              </a:rPr>
              <a:t>审批通过自动生成 A 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93008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493008"/>
            <a:ext cx="5486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5844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AI 在独立页面，入口远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5844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微软雅黑"/>
                <a:ea typeface="微软雅黑"/>
              </a:rPr>
              <a:t>页头搜索/AI 双模，即问即用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931920"/>
            <a:ext cx="548640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931920"/>
            <a:ext cx="5486400" cy="43891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02335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问答无依据、难核验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02335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2E"/>
                </a:solidFill>
                <a:latin typeface="微软雅黑"/>
                <a:ea typeface="微软雅黑"/>
              </a:rPr>
              <a:t>第三屏展示引用与工作台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526280"/>
            <a:ext cx="5486400" cy="1764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meeting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286" y="4526280"/>
            <a:ext cx="2823667" cy="176479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02920" y="63276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改造后 · 会议通知拟稿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526280"/>
            <a:ext cx="5486400" cy="1764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oa-ai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131" y="4526280"/>
            <a:ext cx="2991976" cy="17647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17920" y="63276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改造后 · 门户数字人入口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微软雅黑"/>
                <a:ea typeface="微软雅黑"/>
              </a:rPr>
              <a:t>综合价值：两条线，一个体验目标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让「该开的会开得成，该办的事问得清」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1371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12014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微软雅黑"/>
                <a:ea typeface="微软雅黑"/>
              </a:rPr>
              <a:t>统一体验原则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会议通知改造解决「协同链路」——把会议升级为可触达、可指派、可闭环的流程资产；数字人改造解决「人机入口」——把 AI 升级为门户原生能力。共同减少找路径、漏消息与重复劳动。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63240"/>
            <a:ext cx="2743200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0012"/>
                </a:solidFill>
                <a:latin typeface="微软雅黑"/>
                <a:ea typeface="微软雅黑"/>
              </a:rPr>
              <a:t>效率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审批缩短、填写简化
问答直达、少跳转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06324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3063240"/>
            <a:ext cx="2743200" cy="73152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77FF"/>
                </a:solidFill>
                <a:latin typeface="微软雅黑"/>
                <a:ea typeface="微软雅黑"/>
              </a:rPr>
              <a:t>确定性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703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待办必达、名单实名
引用可核、结果可追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6324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063240"/>
            <a:ext cx="2743200" cy="73152"/>
          </a:xfrm>
          <a:prstGeom prst="rect">
            <a:avLst/>
          </a:prstGeom>
          <a:solidFill>
            <a:srgbClr val="13C2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3C2C2"/>
                </a:solidFill>
                <a:latin typeface="微软雅黑"/>
                <a:ea typeface="微软雅黑"/>
              </a:rPr>
              <a:t>体验连贯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03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门户不换场
会议与 AI 同生态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063240"/>
            <a:ext cx="27432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3063240"/>
            <a:ext cx="2743200" cy="73152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722ED1"/>
                </a:solidFill>
                <a:latin typeface="微软雅黑"/>
                <a:ea typeface="微软雅黑"/>
              </a:rPr>
              <a:t>可演进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7033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A6A7A"/>
                </a:solidFill>
                <a:latin typeface="微软雅黑"/>
                <a:ea typeface="微软雅黑"/>
              </a:rPr>
              <a:t>部门试点后推广
智能体持续扩容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00600"/>
            <a:ext cx="548640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eeting-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66" y="4800600"/>
            <a:ext cx="2457907" cy="15361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2920" y="6373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会议协同链路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800600"/>
            <a:ext cx="548640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oa-ai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912" y="4800600"/>
            <a:ext cx="2604414" cy="153619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17920" y="637336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>门户人机入口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2E"/>
                </a:solidFill>
                <a:latin typeface="微软雅黑"/>
                <a:ea typeface="微软雅黑"/>
              </a:rPr>
              <a:t>要点回顾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设计理念一句话，用户影响一句话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972800" cy="1371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66751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09728" cy="242316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0012"/>
                </a:solidFill>
                <a:latin typeface="微软雅黑"/>
                <a:ea typeface="微软雅黑"/>
              </a:rPr>
              <a:t>会议通知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/>
                <a:ea typeface="微软雅黑"/>
              </a:rPr>
              <a:t>设计理念：轻审批、待办触达、动态指派、会前会后同文号闭环。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用户影响：发起更快、指派更准、参会更少漏——部门会从「发通知」变成「管起来」。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80160"/>
            <a:ext cx="4297680" cy="2130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eeting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038" y="1280160"/>
            <a:ext cx="3408883" cy="2130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06640" y="3447287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86200"/>
            <a:ext cx="6675120" cy="2423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09728" cy="242316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148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77FF"/>
                </a:solidFill>
                <a:latin typeface="微软雅黑"/>
                <a:ea typeface="微软雅黑"/>
              </a:rPr>
              <a:t>OA门户数字人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6344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微软雅黑"/>
                <a:ea typeface="微软雅黑"/>
              </a:rPr>
              <a:t>设计理念：入口内嵌、搜索/AI 双模、专家技能组合、对话与第三屏证据联动。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49240"/>
            <a:ext cx="6035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</a:rPr>
              <a:t>用户影响：少记路径、多问一句；办公问答可信可核，垂直助手随任务切换。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3886200"/>
            <a:ext cx="4297680" cy="2130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oa-ai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442" y="3886200"/>
            <a:ext cx="3612074" cy="21305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06640" y="6053328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A7A"/>
                </a:solidFill>
                <a:latin typeface="微软雅黑"/>
                <a:ea typeface="微软雅黑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让通知抵达该到的人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8A8A"/>
                </a:solidFill>
                <a:latin typeface="微软雅黑"/>
                <a:ea typeface="微软雅黑"/>
              </a:rPr>
              <a:t>让智能出现在该用的地方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6A3"/>
                </a:solidFill>
                <a:latin typeface="微软雅黑"/>
                <a:ea typeface="微软雅黑"/>
              </a:rPr>
              <a:t>会议通知改造 × OA门户数字人改造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谢谢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6A3"/>
                </a:solidFill>
                <a:latin typeface="微软雅黑"/>
                <a:ea typeface="微软雅黑"/>
              </a:rPr>
              <a:t>天翼云 · 数字化运营部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